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Current Architecture</a:t>
            </a:r>
          </a:p>
          <a:p>
            <a:r>
              <a:rPr sz="1200">
                <a:solidFill>
                  <a:srgbClr val="94A3B8"/>
                </a:solidFill>
              </a:rPr>
              <a:t>All components in us-east-1 only — single region, no DR capability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77295" y="182880"/>
            <a:ext cx="731520" cy="32004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4748B"/>
                </a:solidFill>
              </a:rPr>
              <a:t>1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Data Mesh Multi-Region Resiliency —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914400"/>
            <a:ext cx="146304" cy="14630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Producers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914400"/>
            <a:ext cx="146304" cy="146304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Data Mesh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914400"/>
            <a:ext cx="146304" cy="146304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Compute Platforms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914400"/>
            <a:ext cx="146304" cy="146304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Governance (Immuta)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914400"/>
            <a:ext cx="146304" cy="146304"/>
          </a:xfrm>
          <a:prstGeom prst="roundRect">
            <a:avLst/>
          </a:prstGeom>
          <a:solidFill>
            <a:srgbClr val="F472B6"/>
          </a:solidFill>
          <a:ln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Consumer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914400"/>
            <a:ext cx="146304" cy="146304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868680"/>
            <a:ext cx="1371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</a:rPr>
              <a:t>Consumers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234440"/>
            <a:ext cx="11430000" cy="5029200"/>
          </a:xfrm>
          <a:prstGeom prst="roundRect">
            <a:avLst/>
          </a:prstGeom>
          <a:solidFill>
            <a:srgbClr val="1A1010"/>
          </a:solidFill>
          <a:ln w="31750">
            <a:solidFill>
              <a:srgbClr val="F97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1124712"/>
            <a:ext cx="2011680" cy="219456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0E1A"/>
                </a:solidFill>
              </a:rPr>
              <a:t>us-east-1 (N. Virginia) — ALL COMPONENTS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1124712"/>
            <a:ext cx="1828800" cy="21945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463040"/>
            <a:ext cx="36576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PRODUCERS (each in own AWS account)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1691640"/>
            <a:ext cx="1828800" cy="548640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6EE7B7"/>
                </a:solidFill>
              </a:rPr>
              <a:t>Producer A</a:t>
            </a:r>
          </a:p>
          <a:p>
            <a:r>
              <a:rPr sz="800">
                <a:solidFill>
                  <a:srgbClr val="6EE7B7"/>
                </a:solidFill>
              </a:rPr>
              <a:t>S3 (Parquet)
us-east-1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1691640"/>
            <a:ext cx="1828800" cy="548640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6EE7B7"/>
                </a:solidFill>
              </a:rPr>
              <a:t>Producer B</a:t>
            </a:r>
          </a:p>
          <a:p>
            <a:r>
              <a:rPr sz="800">
                <a:solidFill>
                  <a:srgbClr val="6EE7B7"/>
                </a:solidFill>
              </a:rPr>
              <a:t>S3 (Iceberg)
us-east-1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1691640"/>
            <a:ext cx="1828800" cy="548640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6EE7B7"/>
                </a:solidFill>
              </a:rPr>
              <a:t>Producer C</a:t>
            </a:r>
          </a:p>
          <a:p>
            <a:r>
              <a:rPr sz="800">
                <a:solidFill>
                  <a:srgbClr val="6EE7B7"/>
                </a:solidFill>
              </a:rPr>
              <a:t>S3 (Parquet)
us-east-1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66560" y="1691640"/>
            <a:ext cx="1828800" cy="548640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6EE7B7"/>
                </a:solidFill>
              </a:rPr>
              <a:t>Producer N...</a:t>
            </a:r>
          </a:p>
          <a:p>
            <a:r>
              <a:rPr sz="800">
                <a:solidFill>
                  <a:srgbClr val="6EE7B7"/>
                </a:solidFill>
              </a:rPr>
              <a:t>S3
us-east-1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331720"/>
            <a:ext cx="64008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▼  Register Dataset / Notify "New Data Available"  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587752"/>
            <a:ext cx="10881360" cy="105156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Data Mesh Platform (Platform AWS Account, us-east-1)</a:t>
            </a:r>
          </a:p>
          <a:p>
            <a:r>
              <a:rPr sz="800">
                <a:solidFill>
                  <a:srgbClr val="93C5FD"/>
                </a:solidFill>
              </a:rPr>
              <a:t>Registration APIs: Route53 → ALB → ECS Services</a:t>
            </a:r>
          </a:p>
          <a:p>
            <a:r>
              <a:rPr sz="800">
                <a:solidFill>
                  <a:srgbClr val="93C5FD"/>
                </a:solidFill>
              </a:rPr>
              <a:t>Producer Notification API: Lambda — receives from producers, writes DynamoDB, updates Glue</a:t>
            </a:r>
          </a:p>
          <a:p>
            <a:r>
              <a:rPr sz="800">
                <a:solidFill>
                  <a:srgbClr val="93C5FD"/>
                </a:solidFill>
              </a:rPr>
              <a:t>Consumer Notification API: Lambda — publishes SNS → SQS, pushes to On-Prem Kafka via DX/VPN</a:t>
            </a:r>
          </a:p>
          <a:p>
            <a:r>
              <a:rPr sz="800">
                <a:solidFill>
                  <a:srgbClr val="93C5FD"/>
                </a:solidFill>
              </a:rPr>
              <a:t>Infrastructure: DynamoDB (Metadata) • SNS Topic • Glue Catalog • S3 VPC Endpoint • Notification Polling API (ECS+DDB)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712464"/>
            <a:ext cx="64008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</a:rPr>
              <a:t>▼  S3 VPC Gateway Endpoint → Producer S3 Buckets  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41064"/>
            <a:ext cx="274320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</a:rPr>
              <a:t>COMPUTE PLATFORMS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23944"/>
            <a:ext cx="3200400" cy="68580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FDE68A"/>
                </a:solidFill>
              </a:rPr>
              <a:t>Snowflake (us-east-1)</a:t>
            </a:r>
          </a:p>
          <a:p>
            <a:r>
              <a:rPr sz="800">
                <a:solidFill>
                  <a:srgbClr val="FDE68A"/>
                </a:solidFill>
              </a:rPr>
              <a:t>External Tables (Parquet)
Unmanaged Iceberg Tables
Storage Integrations → east1 S3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4123944"/>
            <a:ext cx="3200400" cy="68580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FDE68A"/>
                </a:solidFill>
              </a:rPr>
              <a:t>Starburst (us-east-1)</a:t>
            </a:r>
          </a:p>
          <a:p>
            <a:r>
              <a:rPr sz="800">
                <a:solidFill>
                  <a:srgbClr val="FDE68A"/>
                </a:solidFill>
              </a:rPr>
              <a:t>Glue Catalog as Metastore
S3 Access Point Aliases
VPC Gateway Endpoint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4123944"/>
            <a:ext cx="3200400" cy="68580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FDE68A"/>
                </a:solidFill>
              </a:rPr>
              <a:t>Databricks (us-east-1)</a:t>
            </a:r>
          </a:p>
          <a:p>
            <a:r>
              <a:rPr sz="800">
                <a:solidFill>
                  <a:srgbClr val="FDE68A"/>
                </a:solidFill>
              </a:rPr>
              <a:t>External Tables
Unity Catalog Metastore
IAM Roles → east1 S3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901184"/>
            <a:ext cx="10881360" cy="411480"/>
          </a:xfrm>
          <a:prstGeom prst="roundRect">
            <a:avLst/>
          </a:prstGeom>
          <a:solidFill>
            <a:srgbClr val="1812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C4B5FD"/>
                </a:solidFill>
              </a:rPr>
              <a:t>Immuta Governance (Governance Team Account, us-east-1)</a:t>
            </a:r>
          </a:p>
          <a:p>
            <a:r>
              <a:rPr sz="800">
                <a:solidFill>
                  <a:srgbClr val="C4B5FD"/>
                </a:solidFill>
              </a:rPr>
              <a:t>Starburst: Runtime API calls (hard dependency)  •  Snowflake: Native policy sync  •  Databricks: Native policy sync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404104"/>
            <a:ext cx="10881360" cy="548640"/>
          </a:xfrm>
          <a:prstGeom prst="roundRect">
            <a:avLst/>
          </a:prstGeom>
          <a:solidFill>
            <a:srgbClr val="1E101E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F9A8D4"/>
                </a:solidFill>
              </a:rPr>
              <a:t>Consumer Notification Layer (us-east-1)</a:t>
            </a:r>
          </a:p>
          <a:p>
            <a:r>
              <a:rPr sz="800">
                <a:solidFill>
                  <a:srgbClr val="F9A8D4"/>
                </a:solidFill>
              </a:rPr>
              <a:t>Ch 1: SNS → SQS — Platform SNS to Consumer SQS (consumer accounts, east1)</a:t>
            </a:r>
          </a:p>
          <a:p>
            <a:r>
              <a:rPr sz="800">
                <a:solidFill>
                  <a:srgbClr val="F9A8D4"/>
                </a:solidFill>
              </a:rPr>
              <a:t>Ch 2: On-Prem Kafka — Lambda/ECS pushes to Kafka via Direct Connect/VPN</a:t>
            </a:r>
          </a:p>
          <a:p>
            <a:r>
              <a:rPr sz="800">
                <a:solidFill>
                  <a:srgbClr val="F9A8D4"/>
                </a:solidFill>
              </a:rPr>
              <a:t>Ch 3: Polling API — REST API (ECS + DynamoDB) — Consumer polls for notifications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6025896"/>
            <a:ext cx="10881360" cy="347472"/>
          </a:xfrm>
          <a:prstGeom prst="roundRect">
            <a:avLst/>
          </a:prstGeom>
          <a:solidFill>
            <a:srgbClr val="101528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900" b="1">
                <a:solidFill>
                  <a:srgbClr val="93C5FD"/>
                </a:solidFill>
              </a:rPr>
              <a:t>Consumers (us-east-1)</a:t>
            </a:r>
          </a:p>
          <a:p>
            <a:r>
              <a:rPr sz="800">
                <a:solidFill>
                  <a:srgbClr val="93C5FD"/>
                </a:solidFill>
              </a:rPr>
              <a:t>Query via Snowflake / Starburst / Databricks  •  Notified via SNS-SQS / Kafka / Polling API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464808"/>
            <a:ext cx="11430000" cy="365760"/>
          </a:xfrm>
          <a:prstGeom prst="rect">
            <a:avLst/>
          </a:prstGeom>
          <a:solidFill>
            <a:srgbClr val="1E1808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900">
                <a:solidFill>
                  <a:srgbClr val="FBBF24"/>
                </a:solidFill>
              </a:rPr>
              <a:t>⚠ Single Point of Failure: A full us-east-1 outage renders the entire platform unavailable — APIs, compute, governance, notifications, all consumer queries.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Ideal State — Proposed Architecture</a:t>
            </a:r>
          </a:p>
          <a:p>
            <a:r>
              <a:rPr sz="1200">
                <a:solidFill>
                  <a:srgbClr val="94A3B8"/>
                </a:solidFill>
              </a:rPr>
              <a:t>Both regions fully provisioned: us-east-1 (Production) + us-west-2 (DR Warm Standby)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77295" y="182880"/>
            <a:ext cx="731520" cy="32004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4748B"/>
                </a:solidFill>
              </a:rPr>
              <a:t>2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09728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● ACTIVE = Production    ● STANDBY = DR Ready    ══▶ Cross-region sync (always active)    All producers, platform, consumers have infra in BOTH regions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029200" cy="4251960"/>
          </a:xfrm>
          <a:prstGeom prst="roundRect">
            <a:avLst/>
          </a:prstGeom>
          <a:solidFill>
            <a:srgbClr val="1A1010"/>
          </a:solidFill>
          <a:ln w="31750">
            <a:solidFill>
              <a:srgbClr val="F97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78992"/>
            <a:ext cx="2011680" cy="219456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0E1A"/>
                </a:solidFill>
              </a:rPr>
              <a:t>us-east-1 (N. Virginia)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78992"/>
            <a:ext cx="1828800" cy="21945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/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88720"/>
            <a:ext cx="5029200" cy="4251960"/>
          </a:xfrm>
          <a:prstGeom prst="roundRect">
            <a:avLst/>
          </a:prstGeom>
          <a:solidFill>
            <a:srgbClr val="0C1A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078992"/>
            <a:ext cx="2011680" cy="21945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0E1A"/>
                </a:solidFill>
              </a:rPr>
              <a:t>us-west-2 (Oregon)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078992"/>
            <a:ext cx="1828800" cy="21945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/ 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417320"/>
            <a:ext cx="2743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PRODUCERS — Active Write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581912"/>
            <a:ext cx="1508760" cy="384048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A</a:t>
            </a:r>
          </a:p>
          <a:p>
            <a:r>
              <a:rPr sz="700">
                <a:solidFill>
                  <a:srgbClr val="6EE7B7"/>
                </a:solidFill>
              </a:rPr>
              <a:t>S3 east1  PRIMARY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1581912"/>
            <a:ext cx="1508760" cy="384048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B</a:t>
            </a:r>
          </a:p>
          <a:p>
            <a:r>
              <a:rPr sz="700">
                <a:solidFill>
                  <a:srgbClr val="6EE7B7"/>
                </a:solidFill>
              </a:rPr>
              <a:t>S3 east1  PRIMARY WRITE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581912"/>
            <a:ext cx="1508760" cy="384048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C</a:t>
            </a:r>
          </a:p>
          <a:p>
            <a:r>
              <a:rPr sz="700">
                <a:solidFill>
                  <a:srgbClr val="6EE7B7"/>
                </a:solidFill>
              </a:rPr>
              <a:t>S3 east1  PRIMARY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039112"/>
            <a:ext cx="18288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176272"/>
            <a:ext cx="4846320" cy="86868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3C5FD"/>
                </a:solidFill>
              </a:rPr>
              <a:t>Platform  [ACTIVE]</a:t>
            </a:r>
          </a:p>
          <a:p>
            <a:r>
              <a:rPr sz="700">
                <a:solidFill>
                  <a:srgbClr val="93C5FD"/>
                </a:solidFill>
              </a:rPr>
              <a:t>Registration API (ECS/ALB) [ACTIVE]</a:t>
            </a:r>
          </a:p>
          <a:p>
            <a:r>
              <a:rPr sz="700">
                <a:solidFill>
                  <a:srgbClr val="93C5FD"/>
                </a:solidFill>
              </a:rPr>
              <a:t>Producer Notif API (Lambda) [ACTIVE]</a:t>
            </a:r>
          </a:p>
          <a:p>
            <a:r>
              <a:rPr sz="700">
                <a:solidFill>
                  <a:srgbClr val="93C5FD"/>
                </a:solidFill>
              </a:rPr>
              <a:t>Consumer Notif API (Lambda) [ACTIVE] — Publishes to BOTH SNS topics</a:t>
            </a:r>
          </a:p>
          <a:p>
            <a:r>
              <a:rPr sz="700">
                <a:solidFill>
                  <a:srgbClr val="93C5FD"/>
                </a:solidFill>
              </a:rPr>
              <a:t>DynamoDB [PRIMARY WRT] • SNS • Glue • Polling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90672"/>
            <a:ext cx="27432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COMPUTE PLATFORMS  [ACTIVE]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27832"/>
            <a:ext cx="1508760" cy="36576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Snowflake</a:t>
            </a:r>
          </a:p>
          <a:p>
            <a:r>
              <a:rPr sz="700">
                <a:solidFill>
                  <a:srgbClr val="FDE68A"/>
                </a:solidFill>
              </a:rPr>
              <a:t>ExtTbl, Iceberg
Storage Integ.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227832"/>
            <a:ext cx="1508760" cy="36576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Starburst</a:t>
            </a:r>
          </a:p>
          <a:p>
            <a:r>
              <a:rPr sz="700">
                <a:solidFill>
                  <a:srgbClr val="FDE68A"/>
                </a:solidFill>
              </a:rPr>
              <a:t>Glue, S3 AccPt
VPC Endpoint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3227832"/>
            <a:ext cx="1508760" cy="36576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Databricks</a:t>
            </a:r>
          </a:p>
          <a:p>
            <a:r>
              <a:rPr sz="700">
                <a:solidFill>
                  <a:srgbClr val="FDE68A"/>
                </a:solidFill>
              </a:rPr>
              <a:t>ExtTbl, Unity
Catalog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621024"/>
            <a:ext cx="45720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</a:rPr>
              <a:t>S3 VPC Gateway Endpoint → Producer S3 Buckets (east1)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58184"/>
            <a:ext cx="4846320" cy="274320"/>
          </a:xfrm>
          <a:prstGeom prst="roundRect">
            <a:avLst/>
          </a:prstGeom>
          <a:solidFill>
            <a:srgbClr val="1812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C4B5FD"/>
                </a:solidFill>
              </a:rPr>
              <a:t>Immuta [ACTIVE]  —  SB runtime • SF sync • DBX sync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069080"/>
            <a:ext cx="4846320" cy="411480"/>
          </a:xfrm>
          <a:prstGeom prst="roundRect">
            <a:avLst/>
          </a:prstGeom>
          <a:solidFill>
            <a:srgbClr val="1E101E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9A8D4"/>
                </a:solidFill>
              </a:rPr>
              <a:t>Consumer Notifications [ACTIVE]</a:t>
            </a:r>
          </a:p>
          <a:p>
            <a:r>
              <a:rPr sz="700">
                <a:solidFill>
                  <a:srgbClr val="F9A8D4"/>
                </a:solidFill>
              </a:rPr>
              <a:t>SNS→SQS: Consumers poll east1 SQS</a:t>
            </a:r>
          </a:p>
          <a:p>
            <a:r>
              <a:rPr sz="700">
                <a:solidFill>
                  <a:srgbClr val="F9A8D4"/>
                </a:solidFill>
              </a:rPr>
              <a:t>Kafka: via east1 DX/VPN</a:t>
            </a:r>
          </a:p>
          <a:p>
            <a:r>
              <a:rPr sz="700">
                <a:solidFill>
                  <a:srgbClr val="F9A8D4"/>
                </a:solidFill>
              </a:rPr>
              <a:t>Polling API: ECS + DynamoDB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526280"/>
            <a:ext cx="4846320" cy="274320"/>
          </a:xfrm>
          <a:prstGeom prst="roundRect">
            <a:avLst/>
          </a:prstGeom>
          <a:solidFill>
            <a:srgbClr val="101528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3C5FD"/>
                </a:solidFill>
              </a:rPr>
              <a:t>Consumers [ACTIVE]  —  SQS east1 • Query SF/SB/DBX east1 • Use CNAME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417320"/>
            <a:ext cx="2743200" cy="16459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PRODUCER S3 REPLICAS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1581912"/>
            <a:ext cx="1508760" cy="384048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A</a:t>
            </a:r>
          </a:p>
          <a:p>
            <a:r>
              <a:rPr sz="700">
                <a:solidFill>
                  <a:srgbClr val="6EE7B7"/>
                </a:solidFill>
              </a:rPr>
              <a:t>S3 west2  REPLICA (CRR)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1581912"/>
            <a:ext cx="1508760" cy="384048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B</a:t>
            </a:r>
          </a:p>
          <a:p>
            <a:r>
              <a:rPr sz="700">
                <a:solidFill>
                  <a:srgbClr val="6EE7B7"/>
                </a:solidFill>
              </a:rPr>
              <a:t>S3 west2  REPLICA (CRR)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1581912"/>
            <a:ext cx="1508760" cy="384048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C</a:t>
            </a:r>
          </a:p>
          <a:p>
            <a:r>
              <a:rPr sz="700">
                <a:solidFill>
                  <a:srgbClr val="6EE7B7"/>
                </a:solidFill>
              </a:rPr>
              <a:t>S3 west2  REPLICA (CRR)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039112"/>
            <a:ext cx="18288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2176272"/>
            <a:ext cx="4846320" cy="86868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3C5FD"/>
                </a:solidFill>
              </a:rPr>
              <a:t>Platform  [WARM STANDBY]</a:t>
            </a:r>
          </a:p>
          <a:p>
            <a:r>
              <a:rPr sz="700">
                <a:solidFill>
                  <a:srgbClr val="93C5FD"/>
                </a:solidFill>
              </a:rPr>
              <a:t>Registration API (ECS/ALB) [STBY] — min task count</a:t>
            </a:r>
          </a:p>
          <a:p>
            <a:r>
              <a:rPr sz="700">
                <a:solidFill>
                  <a:srgbClr val="93C5FD"/>
                </a:solidFill>
              </a:rPr>
              <a:t>Producer Notif API (Lambda) [DEPLOYED]</a:t>
            </a:r>
          </a:p>
          <a:p>
            <a:r>
              <a:rPr sz="700">
                <a:solidFill>
                  <a:srgbClr val="93C5FD"/>
                </a:solidFill>
              </a:rPr>
              <a:t>Consumer Notif API (Lambda) [DEPLOYED] — SNS west2 receives dual-pub</a:t>
            </a:r>
          </a:p>
          <a:p>
            <a:r>
              <a:rPr sz="700">
                <a:solidFill>
                  <a:srgbClr val="93C5FD"/>
                </a:solidFill>
              </a:rPr>
              <a:t>DynamoDB [REPLICA RO] • SNS • Glue • Polling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090672"/>
            <a:ext cx="27432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COMPUTE PLATFORMS  [WARM STANDBY]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27832"/>
            <a:ext cx="1508760" cy="36576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Snowflake</a:t>
            </a:r>
          </a:p>
          <a:p>
            <a:r>
              <a:rPr sz="700">
                <a:solidFill>
                  <a:srgbClr val="FDE68A"/>
                </a:solidFill>
              </a:rPr>
              <a:t>ExtTbl, Iceberg
Storage Integ.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80" y="3227832"/>
            <a:ext cx="1508760" cy="36576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Starburst</a:t>
            </a:r>
          </a:p>
          <a:p>
            <a:r>
              <a:rPr sz="700">
                <a:solidFill>
                  <a:srgbClr val="FDE68A"/>
                </a:solidFill>
              </a:rPr>
              <a:t>Glue, S3 AccPt
VPC Endpt, min wkrs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3227832"/>
            <a:ext cx="1508760" cy="365760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Databricks</a:t>
            </a:r>
          </a:p>
          <a:p>
            <a:r>
              <a:rPr sz="700">
                <a:solidFill>
                  <a:srgbClr val="FDE68A"/>
                </a:solidFill>
              </a:rPr>
              <a:t>ExtTbl, Unity
Catalog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621024"/>
            <a:ext cx="45720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700" b="0">
                <a:solidFill>
                  <a:srgbClr val="64748B"/>
                </a:solidFill>
              </a:rPr>
              <a:t>S3 VPC Gateway Endpoint → Producer S3 Buckets (west2)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3758184"/>
            <a:ext cx="4846320" cy="274320"/>
          </a:xfrm>
          <a:prstGeom prst="roundRect">
            <a:avLst/>
          </a:prstGeom>
          <a:solidFill>
            <a:srgbClr val="1812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C4B5FD"/>
                </a:solidFill>
              </a:rPr>
              <a:t>Immuta [STANDBY]  —  Policies synced via CI/CD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069080"/>
            <a:ext cx="4846320" cy="411480"/>
          </a:xfrm>
          <a:prstGeom prst="roundRect">
            <a:avLst/>
          </a:prstGeom>
          <a:solidFill>
            <a:srgbClr val="1E101E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9A8D4"/>
                </a:solidFill>
              </a:rPr>
              <a:t>Consumer Notifications [STANDBY]</a:t>
            </a:r>
          </a:p>
          <a:p>
            <a:r>
              <a:rPr sz="700">
                <a:solidFill>
                  <a:srgbClr val="F9A8D4"/>
                </a:solidFill>
              </a:rPr>
              <a:t>SNS→SQS: west2 SQS pre-created</a:t>
            </a:r>
          </a:p>
          <a:p>
            <a:r>
              <a:rPr sz="700">
                <a:solidFill>
                  <a:srgbClr val="F9A8D4"/>
                </a:solidFill>
              </a:rPr>
              <a:t>Kafka: via west2 DX (pre-provisioned)</a:t>
            </a:r>
          </a:p>
          <a:p>
            <a:r>
              <a:rPr sz="700">
                <a:solidFill>
                  <a:srgbClr val="F9A8D4"/>
                </a:solidFill>
              </a:rPr>
              <a:t>Polling API: ECS + DDB (standby)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526280"/>
            <a:ext cx="4846320" cy="274320"/>
          </a:xfrm>
          <a:prstGeom prst="roundRect">
            <a:avLst/>
          </a:prstGeom>
          <a:solidFill>
            <a:srgbClr val="101528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3C5FD"/>
                </a:solidFill>
              </a:rPr>
              <a:t>Consumers [READY]  —  SQS west2 pre-created • Same CNAME endpoints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40680" y="1463040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S3 CRR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17465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40680" y="2130552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DynamoDB
Global Tbl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241401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798064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Glue
Dual-Write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3081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40680" y="3465576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SNS
Dual-Pub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374904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80" y="4133088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Immuta
Policy CI/CD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44165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4800600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Route53
Failover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508406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5577840"/>
            <a:ext cx="11338560" cy="502920"/>
          </a:xfrm>
          <a:prstGeom prst="roundRect">
            <a:avLst/>
          </a:prstGeom>
          <a:solidFill>
            <a:srgbClr val="1E1808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38100"/>
          <a:lstStyle/>
          <a:p>
            <a:pPr algn="ctr"/>
            <a:r>
              <a:rPr sz="1000" b="1">
                <a:solidFill>
                  <a:srgbClr val="FBBF24"/>
                </a:solidFill>
              </a:rPr>
              <a:t>Cross-Region Synchronization (Always Active During Normal Operations)</a:t>
            </a:r>
          </a:p>
          <a:p>
            <a:r>
              <a:rPr sz="800">
                <a:solidFill>
                  <a:srgbClr val="94A3B8"/>
                </a:solidFill>
              </a:rPr>
              <a:t>S3 CRR east1→west2 (15-min SLA via RTC)  •  DynamoDB Global Tables (~2s lag)  •  Glue Catalog Dual-Write  •  SNS Dual-Publish  •  Route53 Failover  •  ECR Replication  •  Immuta Policy-as-Code CI/CD  •  Snowflake Account Replication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144768"/>
            <a:ext cx="11338560" cy="365760"/>
          </a:xfrm>
          <a:prstGeom prst="rect">
            <a:avLst/>
          </a:prstGeom>
          <a:solidFill>
            <a:srgbClr val="0C1A14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900">
                <a:solidFill>
                  <a:srgbClr val="34D399"/>
                </a:solidFill>
              </a:rPr>
              <a:t>✔ During DR Flip: Producers reverse CRR (west2→east1), write to west2. Platform activates west2 infra. Consumers switch to west2 endpoints. Iceberg path problem eliminated (native west2 paths).   RPO ≤ 15 min  •  RTO 45-60 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Tasks Required — Ideal State</a:t>
            </a:r>
          </a:p>
          <a:p>
            <a:r>
              <a:rPr sz="1200">
                <a:solidFill>
                  <a:srgbClr val="94A3B8"/>
                </a:solidFill>
              </a:rPr>
              <a:t>Work by Data Mesh Platform, Producers, and Consumers to achieve full dual-region readiness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77295" y="182880"/>
            <a:ext cx="731520" cy="32004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4748B"/>
                </a:solidFill>
              </a:rPr>
              <a:t>3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Data Mesh Multi-Region Resiliency — April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868680"/>
            <a:ext cx="3794760" cy="2560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Data Mesh Platform Team (22 tasks)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61288"/>
          <a:ext cx="3794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Create VPC, subnets, S3 VPC Endpoint in west2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Deploy ECS Registration APIs in west2 (warm standby)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Deploy Producer Notification API (Lambda) in west2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Deploy Consumer Notification API (Lambda) in west2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Create SNS topic in west2 + cross-account subs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Configure DynamoDB Global Tables (add west2 replica)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7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Deploy all Lambda functions in west2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Set up Glue Catalog in west2 + Lake Formation perms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8a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Modify Notification Lambda for Glue dual-write (code change)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9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Implement SNS dual-publish (both east1 + west2 topics)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10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Configure Route53 failover routing + health checks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11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Provision Snowflake account in west2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Build external table / Iceberg recreation automation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13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Deploy Starburst cluster in west2 (warm standby)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14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Deploy Databricks workspace in west2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15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Deploy Immuta in west2 + Policy-as-Code CI/CD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16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Provision Direct Connect / VPN from west2 to on-prem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17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Build self-service producer onboarding toolkit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18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Build monitoring &amp; alerting for west2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19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Deploy Notification Polling API in west2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20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ECR cross-region replication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21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Build &amp; test DR flip runbook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22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Decommission plan for east1 standby after failback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78808" y="868680"/>
            <a:ext cx="379476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Producer Teams (9 tasks)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78808" y="1161288"/>
          <a:ext cx="37947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Create mirror S3 bucket in us-west-2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Enable S3 versioning on BOTH buckets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Enable S3 CRR: east1→west2 with RTC (15-min SLA)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Grant compute platform IAM roles access to west2 bucket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Create S3 Access Points on west2 bucket (Starburst)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Enable Replication Metrics &amp; Monitoring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7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Prepare CRR reversal procedure (west2→east1)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Prepare to switch writes to west2 during DR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9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Validate east1 write → west2 replica accessible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178808" y="3520440"/>
            <a:ext cx="3794760" cy="411480"/>
          </a:xfrm>
          <a:prstGeom prst="rect">
            <a:avLst/>
          </a:prstGeom>
          <a:solidFill>
            <a:srgbClr val="10182E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60A5FA"/>
                </a:solidFill>
              </a:rPr>
              <a:t>Normal Ops: Producers write to east1 S3 (primary). CRR replicates to west2.
During DR Flip: Producers reverse CRR (west2→east1) and switch writes to west2.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868680"/>
            <a:ext cx="3794760" cy="2560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Consumer Teams (8 tasks)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083296" y="1161288"/>
          <a:ext cx="37947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10896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94A3B8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Create SQS queue in us-west-2 (own account)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Subscribe west2 SQS to west2 SNS topic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Use platform CNAME endpoints (not direct URLs)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Prepare to switch polling to west2 SQS during DR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Implement idempotent message processing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6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On-prem Kafka: validate west2 DX path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7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Test end-to-end in west2 during DR drill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8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Document connection failover procedure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650">
                          <a:solidFill>
                            <a:srgbClr val="E2E8F0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083296" y="3291840"/>
            <a:ext cx="3794760" cy="457200"/>
          </a:xfrm>
          <a:prstGeom prst="rect">
            <a:avLst/>
          </a:prstGeom>
          <a:solidFill>
            <a:srgbClr val="10182E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60A5FA"/>
                </a:solidFill>
              </a:rPr>
              <a:t>Consumer Connection Strategy:
• CNAME (Recommended): Platform DNS routes transparently
• Snowflake Client Redirect: Native (Business Critical ed.)
• Dual-Publish: Consumers can poll both SQS queues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3803904"/>
            <a:ext cx="3794760" cy="274320"/>
          </a:xfrm>
          <a:prstGeom prst="rect">
            <a:avLst/>
          </a:prstGeom>
          <a:solidFill>
            <a:srgbClr val="1E1808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700">
                <a:solidFill>
                  <a:srgbClr val="FBBF24"/>
                </a:solidFill>
              </a:rPr>
              <a:t>⚠ DX Lead Time: Direct Connect / VPN from west2 to on-prem takes 4-8 weeks. Must start in Phase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Hybrid State — Proposed Architecture</a:t>
            </a:r>
          </a:p>
          <a:p>
            <a:r>
              <a:rPr sz="1200">
                <a:solidFill>
                  <a:srgbClr val="94A3B8"/>
                </a:solidFill>
              </a:rPr>
              <a:t>Most producers can flip; non-flipping producers use Snowflake Private Listing (SnowGrid)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77295" y="182880"/>
            <a:ext cx="731520" cy="32004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4748B"/>
                </a:solidFill>
              </a:rPr>
              <a:t>4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1143000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● CAN FLIP = Ready for DR    ● CANNOT FLIP = Stays in east1    ■ Snowflake Private Listing    Identical to Ideal + Private Listing bridge for non-flipped producers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029200" cy="4572000"/>
          </a:xfrm>
          <a:prstGeom prst="roundRect">
            <a:avLst/>
          </a:prstGeom>
          <a:solidFill>
            <a:srgbClr val="1A1010"/>
          </a:solidFill>
          <a:ln w="31750">
            <a:solidFill>
              <a:srgbClr val="F97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33272"/>
            <a:ext cx="2011680" cy="219456"/>
          </a:xfrm>
          <a:prstGeom prst="roundRect">
            <a:avLst/>
          </a:prstGeom>
          <a:solidFill>
            <a:srgbClr val="F9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0E1A"/>
                </a:solidFill>
              </a:rPr>
              <a:t>us-east-1 (N. Virginia)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33272"/>
            <a:ext cx="1828800" cy="21945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PRIMARY / PRODUCTION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143000"/>
            <a:ext cx="5029200" cy="4572000"/>
          </a:xfrm>
          <a:prstGeom prst="roundRect">
            <a:avLst/>
          </a:prstGeom>
          <a:solidFill>
            <a:srgbClr val="0C1A14"/>
          </a:solidFill>
          <a:ln w="317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1033272"/>
            <a:ext cx="2011680" cy="21945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0A0E1A"/>
                </a:solidFill>
              </a:rPr>
              <a:t>us-west-2 (Oregon)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033272"/>
            <a:ext cx="1828800" cy="21945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SECONDARY / 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44168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FLIPPED PRODUCERS (can flip to DR)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490472"/>
            <a:ext cx="2286000" cy="320040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A [FLIP]</a:t>
            </a:r>
          </a:p>
          <a:p>
            <a:r>
              <a:rPr sz="700">
                <a:solidFill>
                  <a:srgbClr val="6EE7B7"/>
                </a:solidFill>
              </a:rPr>
              <a:t>S3 east1 PRIMARY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490472"/>
            <a:ext cx="2286000" cy="320040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B [FLIP]</a:t>
            </a:r>
          </a:p>
          <a:p>
            <a:r>
              <a:rPr sz="700">
                <a:solidFill>
                  <a:srgbClr val="6EE7B7"/>
                </a:solidFill>
              </a:rPr>
              <a:t>S3 east1 PRIMARY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856232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F97066"/>
                </a:solidFill>
              </a:rPr>
              <a:t>NON-FLIPPED PRODUCERS (cannot flip)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002536"/>
            <a:ext cx="2286000" cy="320040"/>
          </a:xfrm>
          <a:prstGeom prst="roundRect">
            <a:avLst/>
          </a:prstGeom>
          <a:solidFill>
            <a:srgbClr val="5C2824"/>
          </a:solidFill>
          <a:ln w="19050">
            <a:solidFill>
              <a:srgbClr val="F97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97066"/>
                </a:solidFill>
              </a:rPr>
              <a:t>Prod X [NO FLIP]</a:t>
            </a:r>
          </a:p>
          <a:p>
            <a:r>
              <a:rPr sz="700">
                <a:solidFill>
                  <a:srgbClr val="F97066"/>
                </a:solidFill>
              </a:rPr>
              <a:t>S3 east1 ONLY — No CRR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2002536"/>
            <a:ext cx="2286000" cy="320040"/>
          </a:xfrm>
          <a:prstGeom prst="roundRect">
            <a:avLst/>
          </a:prstGeom>
          <a:solidFill>
            <a:srgbClr val="5C2824"/>
          </a:solidFill>
          <a:ln w="19050">
            <a:solidFill>
              <a:srgbClr val="F97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97066"/>
                </a:solidFill>
              </a:rPr>
              <a:t>Prod Y [NO FLIP]</a:t>
            </a:r>
          </a:p>
          <a:p>
            <a:r>
              <a:rPr sz="700">
                <a:solidFill>
                  <a:srgbClr val="F97066"/>
                </a:solidFill>
              </a:rPr>
              <a:t>S3 east1 ONLY — No CRR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386584"/>
            <a:ext cx="18288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514600"/>
            <a:ext cx="4846320" cy="5029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3C5FD"/>
                </a:solidFill>
              </a:rPr>
              <a:t>Platform  [ACTIVE]</a:t>
            </a:r>
          </a:p>
          <a:p>
            <a:r>
              <a:rPr sz="700">
                <a:solidFill>
                  <a:srgbClr val="93C5FD"/>
                </a:solidFill>
              </a:rPr>
              <a:t>Registration API • Producer Notif API • Consumer Notif API</a:t>
            </a:r>
          </a:p>
          <a:p>
            <a:r>
              <a:rPr sz="700">
                <a:solidFill>
                  <a:srgbClr val="93C5FD"/>
                </a:solidFill>
              </a:rPr>
              <a:t>DynamoDB (PRIMARY WRT) • SNS • Glue • Polling API • Lambdas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063240"/>
            <a:ext cx="27432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COMPUTE PLATFORMS  [ACTIVE]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91256"/>
            <a:ext cx="1508760" cy="347472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Snowflake</a:t>
            </a:r>
          </a:p>
          <a:p>
            <a:r>
              <a:rPr sz="700">
                <a:solidFill>
                  <a:srgbClr val="FDE68A"/>
                </a:solidFill>
              </a:rPr>
              <a:t>ALL data
(flipped + non-flipped)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" y="3191256"/>
            <a:ext cx="1508760" cy="347472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Starburst</a:t>
            </a:r>
          </a:p>
          <a:p>
            <a:r>
              <a:rPr sz="700">
                <a:solidFill>
                  <a:srgbClr val="FDE68A"/>
                </a:solidFill>
              </a:rPr>
              <a:t>ALL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60" y="3191256"/>
            <a:ext cx="1508760" cy="347472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Databricks</a:t>
            </a:r>
          </a:p>
          <a:p>
            <a:r>
              <a:rPr sz="700">
                <a:solidFill>
                  <a:srgbClr val="FDE68A"/>
                </a:solidFill>
              </a:rPr>
              <a:t>ALL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584448"/>
            <a:ext cx="4846320" cy="457200"/>
          </a:xfrm>
          <a:prstGeom prst="roundRect">
            <a:avLst/>
          </a:prstGeom>
          <a:solidFill>
            <a:srgbClr val="1E140A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BA74"/>
                </a:solidFill>
              </a:rPr>
              <a:t>Snowflake east1 — PROVIDER</a:t>
            </a:r>
          </a:p>
          <a:p>
            <a:r>
              <a:rPr sz="700">
                <a:solidFill>
                  <a:srgbClr val="FDBA74"/>
                </a:solidFill>
              </a:rPr>
              <a:t>Unmanaged Iceberg Tables for non-flipped Prod X, Prod Y</a:t>
            </a:r>
          </a:p>
          <a:p>
            <a:r>
              <a:rPr sz="700">
                <a:solidFill>
                  <a:srgbClr val="FDBA74"/>
                </a:solidFill>
              </a:rPr>
              <a:t>Private Listing shares this data cross-region to west2 SF 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087368"/>
            <a:ext cx="4846320" cy="201168"/>
          </a:xfrm>
          <a:prstGeom prst="roundRect">
            <a:avLst/>
          </a:prstGeom>
          <a:solidFill>
            <a:srgbClr val="1812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C4B5FD"/>
                </a:solidFill>
              </a:rPr>
              <a:t>Immuta [ACTIVE]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325112"/>
            <a:ext cx="4846320" cy="201168"/>
          </a:xfrm>
          <a:prstGeom prst="roundRect">
            <a:avLst/>
          </a:prstGeom>
          <a:solidFill>
            <a:srgbClr val="1E101E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9A8D4"/>
                </a:solidFill>
              </a:rPr>
              <a:t>Consumer Notifications [ACTIVE]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562856"/>
            <a:ext cx="4846320" cy="201168"/>
          </a:xfrm>
          <a:prstGeom prst="roundRect">
            <a:avLst/>
          </a:prstGeom>
          <a:solidFill>
            <a:srgbClr val="101528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3C5FD"/>
                </a:solidFill>
              </a:rPr>
              <a:t>Consumers [ACTIVE]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344168"/>
            <a:ext cx="3657600" cy="1371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FLIPPED PRODUCER S3 REPLICAS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0" y="1490472"/>
            <a:ext cx="2286000" cy="320040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A [FLIP]</a:t>
            </a:r>
          </a:p>
          <a:p>
            <a:r>
              <a:rPr sz="700">
                <a:solidFill>
                  <a:srgbClr val="6EE7B7"/>
                </a:solidFill>
              </a:rPr>
              <a:t>S3 west2 REPLICA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490472"/>
            <a:ext cx="2286000" cy="320040"/>
          </a:xfrm>
          <a:prstGeom prst="roundRect">
            <a:avLst/>
          </a:prstGeom>
          <a:solidFill>
            <a:srgbClr val="0E1F18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6EE7B7"/>
                </a:solidFill>
              </a:rPr>
              <a:t>Prod B [FLIP]</a:t>
            </a:r>
          </a:p>
          <a:p>
            <a:r>
              <a:rPr sz="700">
                <a:solidFill>
                  <a:srgbClr val="6EE7B7"/>
                </a:solidFill>
              </a:rPr>
              <a:t>S3 west2 REPLICA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1856232"/>
            <a:ext cx="457200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700" b="0">
                <a:solidFill>
                  <a:srgbClr val="F97066"/>
                </a:solidFill>
              </a:rPr>
              <a:t>NON-FLIPPED — NO S3 replica in west2
Prod X, Prod Y data only via Snowflake Private Listing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176272"/>
            <a:ext cx="18288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304288"/>
            <a:ext cx="4846320" cy="502920"/>
          </a:xfrm>
          <a:prstGeom prst="roundRect">
            <a:avLst/>
          </a:prstGeom>
          <a:solidFill>
            <a:srgbClr val="10182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3C5FD"/>
                </a:solidFill>
              </a:rPr>
              <a:t>Platform  [WARM STANDBY]</a:t>
            </a:r>
          </a:p>
          <a:p>
            <a:r>
              <a:rPr sz="700">
                <a:solidFill>
                  <a:srgbClr val="93C5FD"/>
                </a:solidFill>
              </a:rPr>
              <a:t>Registration API • Producer Notif API • Consumer Notif API</a:t>
            </a:r>
          </a:p>
          <a:p>
            <a:r>
              <a:rPr sz="700">
                <a:solidFill>
                  <a:srgbClr val="93C5FD"/>
                </a:solidFill>
              </a:rPr>
              <a:t>DynamoDB (REPLICA RO) • SNS • Glue • Polling API • Lambdas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2852928"/>
            <a:ext cx="2743200" cy="1188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800" b="1">
                <a:solidFill>
                  <a:srgbClr val="64748B"/>
                </a:solidFill>
              </a:rPr>
              <a:t>COMPUTE PLATFORMS  [WARM STANDBY]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0" y="2980944"/>
            <a:ext cx="1508760" cy="347472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Snowflake</a:t>
            </a:r>
          </a:p>
          <a:p>
            <a:r>
              <a:rPr sz="700">
                <a:solidFill>
                  <a:srgbClr val="FDE68A"/>
                </a:solidFill>
              </a:rPr>
              <a:t>✓ Flipped data
✓ Non-flip via PL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2980944"/>
            <a:ext cx="1508760" cy="347472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Starburst</a:t>
            </a:r>
          </a:p>
          <a:p>
            <a:r>
              <a:rPr sz="700">
                <a:solidFill>
                  <a:srgbClr val="FDE68A"/>
                </a:solidFill>
              </a:rPr>
              <a:t>✓ Flipped data
✗ No non-flip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2980944"/>
            <a:ext cx="1508760" cy="347472"/>
          </a:xfrm>
          <a:prstGeom prst="roundRect">
            <a:avLst/>
          </a:prstGeom>
          <a:solidFill>
            <a:srgbClr val="1C180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E68A"/>
                </a:solidFill>
              </a:rPr>
              <a:t>Databricks</a:t>
            </a:r>
          </a:p>
          <a:p>
            <a:r>
              <a:rPr sz="700">
                <a:solidFill>
                  <a:srgbClr val="FDE68A"/>
                </a:solidFill>
              </a:rPr>
              <a:t>✓ Flipped data
✗ No non-flip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3374136"/>
            <a:ext cx="4846320" cy="457200"/>
          </a:xfrm>
          <a:prstGeom prst="roundRect">
            <a:avLst/>
          </a:prstGeom>
          <a:solidFill>
            <a:srgbClr val="1E140A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DBA74"/>
                </a:solidFill>
              </a:rPr>
              <a:t>◀ Snowflake west2 — CONSUMER</a:t>
            </a:r>
          </a:p>
          <a:p>
            <a:r>
              <a:rPr sz="700">
                <a:solidFill>
                  <a:srgbClr val="FDBA74"/>
                </a:solidFill>
              </a:rPr>
              <a:t>Receives non-flipped producer data via Private Listing</a:t>
            </a:r>
          </a:p>
          <a:p>
            <a:r>
              <a:rPr sz="700">
                <a:solidFill>
                  <a:srgbClr val="FDBA74"/>
                </a:solidFill>
              </a:rPr>
              <a:t>Available as shared database in west2 SF account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3877056"/>
            <a:ext cx="4846320" cy="201168"/>
          </a:xfrm>
          <a:prstGeom prst="roundRect">
            <a:avLst/>
          </a:prstGeom>
          <a:solidFill>
            <a:srgbClr val="18122A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C4B5FD"/>
                </a:solidFill>
              </a:rPr>
              <a:t>Immuta [STANDBY]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4114800"/>
            <a:ext cx="4846320" cy="201168"/>
          </a:xfrm>
          <a:prstGeom prst="roundRect">
            <a:avLst/>
          </a:prstGeom>
          <a:solidFill>
            <a:srgbClr val="1E101E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F9A8D4"/>
                </a:solidFill>
              </a:rPr>
              <a:t>Consumer Notifications [STANDBY]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4352544"/>
            <a:ext cx="4846320" cy="201168"/>
          </a:xfrm>
          <a:prstGeom prst="roundRect">
            <a:avLst/>
          </a:prstGeom>
          <a:solidFill>
            <a:srgbClr val="101528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 b="1">
                <a:solidFill>
                  <a:srgbClr val="93C5FD"/>
                </a:solidFill>
              </a:rPr>
              <a:t>Consumers [READY]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40680" y="1463040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S3 CRR
(flipped only)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17465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103120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DDB / Glue
SNS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238658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40680" y="2743200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Immuta
Policy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3560" y="302666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40680" y="3383280"/>
            <a:ext cx="914400" cy="292608"/>
          </a:xfrm>
          <a:prstGeom prst="roundRect">
            <a:avLst/>
          </a:prstGeom>
          <a:solidFill>
            <a:srgbClr val="1E140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/>
          <a:lstStyle/>
          <a:p>
            <a:pPr algn="ctr"/>
            <a:r>
              <a:rPr sz="700" b="1">
                <a:solidFill>
                  <a:srgbClr val="FDBA74"/>
                </a:solidFill>
              </a:rPr>
              <a:t>Private
Listing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23560" y="3694176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97316"/>
                </a:solidFill>
              </a:rPr>
              <a:t>▶▶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40680" y="3986784"/>
            <a:ext cx="914400" cy="201168"/>
          </a:xfrm>
          <a:prstGeom prst="roundRect">
            <a:avLst/>
          </a:prstGeom>
          <a:solidFill>
            <a:srgbClr val="1E180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700" b="1">
                <a:solidFill>
                  <a:srgbClr val="FBBF24"/>
                </a:solidFill>
              </a:rPr>
              <a:t>Route53
Failover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23560" y="4261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BBF24"/>
                </a:solidFill>
              </a:rPr>
              <a:t>▶▶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852160"/>
            <a:ext cx="11338560" cy="502920"/>
          </a:xfrm>
          <a:prstGeom prst="rect">
            <a:avLst/>
          </a:prstGeom>
          <a:solidFill>
            <a:srgbClr val="1E1808"/>
          </a:solidFill>
          <a:ln w="381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FBBF24"/>
                </a:solidFill>
              </a:rPr>
              <a:t>⚠ Hybrid Limitations:
(1) Non-flipped data ONLY in Snowflake — Starburst/Databricks cannot consume Private Listing.  (2) If east1 has full outage, Private Listing replication stops.  (3) Must validate Private Listing + unmanaged Iceberg with Snowflake support (BCR-1528).  (4) Validate Immuta governance on Private Listing shared 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Tasks Required — Hybrid State</a:t>
            </a:r>
          </a:p>
          <a:p>
            <a:r>
              <a:rPr sz="1200">
                <a:solidFill>
                  <a:srgbClr val="94A3B8"/>
                </a:solidFill>
              </a:rPr>
              <a:t>Additional tasks beyond Ideal State to support non-flipping producers via Snowflake Private Listing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77295" y="182880"/>
            <a:ext cx="731520" cy="32004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4748B"/>
                </a:solidFill>
              </a:rPr>
              <a:t>5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Data Mesh Multi-Region Resiliency —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68680"/>
            <a:ext cx="11612880" cy="274320"/>
          </a:xfrm>
          <a:prstGeom prst="rect">
            <a:avLst/>
          </a:prstGeom>
          <a:solidFill>
            <a:srgbClr val="10182E"/>
          </a:solidFill>
          <a:ln w="381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60A5FA"/>
                </a:solidFill>
              </a:rPr>
              <a:t>Prerequisite: All Ideal State tasks (Slide 3) must be completed first. The tasks below are additional work specific to Hybrid.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34440"/>
            <a:ext cx="5760720" cy="2560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Platform Team (Additional) — H1-H12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527048"/>
          <a:ext cx="57607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502920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Maintain Snowflake east1 account as Private Listing provider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Set up SF Private Listing / SnowGrid per non-flipped producer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H3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Configure east1 SF as provider (share non-flipped tables)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H4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Configure west2 SF as consumer (subscribe to listings)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H5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Validate Immuta governance on PL shared tables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H6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Ensure non-flipped producers use CNAME for Notif API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H7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Build monitoring for Private Listing replication lag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H8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Maintain producer registry (flipped vs non-flipped)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H9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Document SB/DBX limitation for non-flipped data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H10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Build automation: hybrid → ideal transition per producer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H11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Maintain east1 SF Storage Integrations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H12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Cost tracking for Private Listing replication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74320" y="4590288"/>
            <a:ext cx="5760720" cy="25603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Non-Flipping Producer Teams (5 tasks)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4882896"/>
          <a:ext cx="57607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507492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Continue writing to east1 S3 (no change)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Keep east1 SF IAM role in S3 bucket policy (removing breaks PL)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CRIT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3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Use CNAME for Producer Notification API (not direct east1 URL)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4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Coordinate with Platform on Private Listing setup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5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Commit to timeline for eventual flip to west2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1234440"/>
            <a:ext cx="5760720" cy="2560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Consumer Teams (Additional)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2200" y="1527048"/>
          <a:ext cx="57607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5074920"/>
                <a:gridCol w="411480"/>
              </a:tblGrid>
              <a:tr h="228600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Task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94A3B8"/>
                          </a:solidFill>
                        </a:rPr>
                        <a:t>Pri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/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Same as Ideal State (Slide 3) — consumers operate in west2 during DR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/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+1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Understand: non-flipped data only available via Snowflake in west2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HIGH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+2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Accept Private Listing replication lag for non-flipped data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>
                          <a:solidFill>
                            <a:srgbClr val="E2E8F0"/>
                          </a:solidFill>
                        </a:rPr>
                        <a:t>MED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172200" y="269748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Ideal vs. Hybrid Comparison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2200" y="2953512"/>
          <a:ext cx="5760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228600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Aspect</a:t>
                      </a:r>
                    </a:p>
                  </a:txBody>
                  <a:tcPr marL="50800" marR="50800" marT="25400" marB="25400">
                    <a:solidFill>
                      <a:srgbClr val="1A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Ideal</a:t>
                      </a:r>
                    </a:p>
                  </a:txBody>
                  <a:tcPr marL="50800" marR="50800" marT="25400" marB="25400">
                    <a:solidFill>
                      <a:srgbClr val="1A21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Hybrid</a:t>
                      </a:r>
                    </a:p>
                  </a:txBody>
                  <a:tcPr marL="50800" marR="50800" marT="25400" marB="25400">
                    <a:solidFill>
                      <a:srgbClr val="1A213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Producer Adoption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All can flip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Most flip; some stay east1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Iceberg Paths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✓ Eliminated after flip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⚠ PL for non-flipped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Snowflake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✓ All data native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✓ Native + PL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Starburst / DBX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✓ Full access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✗ No non-flip data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Complexity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Lower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Higher (two paths)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Cost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Lower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Higher (PL fees)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east1 Dependency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✓ None during flip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✗ Non-flip needs east1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Path Forward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Target state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Converges to Ideal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172200" y="5102352"/>
            <a:ext cx="5760720" cy="320040"/>
          </a:xfrm>
          <a:prstGeom prst="rect">
            <a:avLst/>
          </a:prstGeom>
          <a:solidFill>
            <a:srgbClr val="0C1A14"/>
          </a:solidFill>
          <a:ln w="381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50800" bIns="50800"/>
          <a:lstStyle/>
          <a:p>
            <a:pPr algn="ctr"/>
            <a:r>
              <a:rPr sz="800">
                <a:solidFill>
                  <a:srgbClr val="34D399"/>
                </a:solidFill>
              </a:rPr>
              <a:t>✔ Goal: Hybrid is transitional. As each non-flipping producer migrates, they move from Private Listing to native. The end state is always the Ideal Architecture.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DR Flip Sequence</a:t>
            </a:r>
          </a:p>
          <a:p>
            <a:r>
              <a:rPr sz="1200">
                <a:solidFill>
                  <a:srgbClr val="94A3B8"/>
                </a:solidFill>
              </a:rPr>
              <a:t>Step-by-step failover from us-east-1 to us-west-2 during a sustained regional outage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77295" y="182880"/>
            <a:ext cx="731520" cy="32004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4748B"/>
                </a:solidFill>
              </a:rPr>
              <a:t>6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5029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Failover Steps</a:t>
            </a:r>
          </a:p>
        </p:txBody>
      </p:sp>
      <p:sp>
        <p:nvSpPr>
          <p:cNvPr id="6" name="Oval 5"/>
          <p:cNvSpPr/>
          <p:nvPr/>
        </p:nvSpPr>
        <p:spPr>
          <a:xfrm>
            <a:off x="274320" y="1161288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A0E1A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143000"/>
            <a:ext cx="4754880" cy="45720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Assess &amp; Approve</a:t>
            </a:r>
          </a:p>
          <a:p>
            <a:r>
              <a:rPr sz="750">
                <a:solidFill>
                  <a:srgbClr val="94A3B8"/>
                </a:solidFill>
              </a:rPr>
              <a:t>Confirm sustained us-east-1 outage via AWS Health Dashboard. Check S3 CRR status. Get VP Engineering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6304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FBBF24"/>
                </a:solidFill>
              </a:rPr>
              <a:t>5 minutes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691640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A0E1A"/>
                </a:solidFill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1673352"/>
            <a:ext cx="4754880" cy="45720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Activate Platform APIs</a:t>
            </a:r>
          </a:p>
          <a:p>
            <a:r>
              <a:rPr sz="750">
                <a:solidFill>
                  <a:srgbClr val="94A3B8"/>
                </a:solidFill>
              </a:rPr>
              <a:t>Route53 failover → west2 ALB. DynamoDB west2 becomes write region. Scale up ECS services. Verify Lambda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9339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FBBF24"/>
                </a:solidFill>
              </a:rPr>
              <a:t>5-10 minutes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2221992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A0E1A"/>
                </a:solidFill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203704"/>
            <a:ext cx="4754880" cy="45720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Activate Iceberg Tables</a:t>
            </a:r>
          </a:p>
          <a:p>
            <a:r>
              <a:rPr sz="750">
                <a:solidFill>
                  <a:srgbClr val="94A3B8"/>
                </a:solidFill>
              </a:rPr>
              <a:t>Validate latest metadata.json in west2 S3. Run register_table in west2 Glue. Verify referenced data files exist.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523744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FBBF24"/>
                </a:solidFill>
              </a:rPr>
              <a:t>10-15 minutes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2752344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A0E1A"/>
                </a:solidFill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734056"/>
            <a:ext cx="4754880" cy="45720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Activate Compute Platforms</a:t>
            </a:r>
          </a:p>
          <a:p>
            <a:r>
              <a:rPr sz="750">
                <a:solidFill>
                  <a:srgbClr val="94A3B8"/>
                </a:solidFill>
              </a:rPr>
              <a:t>Snowflake: Run external table recreation. Starburst: Scale up west2 cluster. Databricks: Activate workspace. Immuta: Verify connectivity.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054096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FBBF24"/>
                </a:solidFill>
              </a:rPr>
              <a:t>10-20 min (parallel)</a:t>
            </a:r>
          </a:p>
        </p:txBody>
      </p:sp>
      <p:sp>
        <p:nvSpPr>
          <p:cNvPr id="18" name="Oval 17"/>
          <p:cNvSpPr/>
          <p:nvPr/>
        </p:nvSpPr>
        <p:spPr>
          <a:xfrm>
            <a:off x="274320" y="3282696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A0E1A"/>
                </a:solidFill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264408"/>
            <a:ext cx="4754880" cy="45720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Activate Notifications</a:t>
            </a:r>
          </a:p>
          <a:p>
            <a:r>
              <a:rPr sz="750">
                <a:solidFill>
                  <a:srgbClr val="94A3B8"/>
                </a:solidFill>
              </a:rPr>
              <a:t>Verify SNS west2 receiving messages. Confirm Kafka flowing via west2 DX. Verify Polling API reachable via CNAME.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84448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FBBF24"/>
                </a:solidFill>
              </a:rPr>
              <a:t>5 min (parallel w/ Step 4)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3813048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A0E1A"/>
                </a:solidFill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3794760"/>
            <a:ext cx="4754880" cy="45720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Producers Flip</a:t>
            </a:r>
          </a:p>
          <a:p>
            <a:r>
              <a:rPr sz="750">
                <a:solidFill>
                  <a:srgbClr val="94A3B8"/>
                </a:solidFill>
              </a:rPr>
              <a:t>Reverse CRR (west2→east1). Switch writes to west2 S3. Non-flipped: no change (Private Listing continues).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14800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FBBF24"/>
                </a:solidFill>
              </a:rPr>
              <a:t>Coordinated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" y="4343400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A0E1A"/>
                </a:solidFill>
              </a:rPr>
              <a:t>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325112"/>
            <a:ext cx="4754880" cy="45720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Notify Consumers &amp; Monitor</a:t>
            </a:r>
          </a:p>
          <a:p>
            <a:r>
              <a:rPr sz="750">
                <a:solidFill>
                  <a:srgbClr val="94A3B8"/>
                </a:solidFill>
              </a:rPr>
              <a:t>Status: Platform operational in west2. List available vs unavailable datasets. Continuous monitoring.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645152"/>
            <a:ext cx="100584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1">
                <a:solidFill>
                  <a:srgbClr val="FBBF24"/>
                </a:solidFill>
              </a:rPr>
              <a:t>5 minutes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868680"/>
            <a:ext cx="50292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RPO / RTO Summary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217920" y="1143000"/>
          <a:ext cx="53035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82880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Component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RPO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RTO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S3 Data (Parquet)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15 min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S3 Data (Iceberg)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15 min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10-15 min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DynamoDB Metadata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Glue Catalog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~0 (dual-write)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Platform APIs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Snowflake (ext/Ice)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10-20 min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Starburst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~0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Databricks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N/A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10-15 min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Immuta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Last CI/CD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SNS→SQS (dual-pub)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~0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0 min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On-Prem Kafka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Polling API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~2 sec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5-10 min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6217920" y="4251960"/>
            <a:ext cx="5303520" cy="777240"/>
          </a:xfrm>
          <a:prstGeom prst="roundRect">
            <a:avLst/>
          </a:prstGeom>
          <a:solidFill>
            <a:srgbClr val="1A2138"/>
          </a:solidFill>
          <a:ln w="254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7620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Overall Targets</a:t>
            </a:r>
          </a:p>
          <a:p>
            <a:pPr algn="ctr"/>
            <a:r>
              <a:rPr sz="1600" b="1">
                <a:solidFill>
                  <a:srgbClr val="60A5FA"/>
                </a:solidFill>
              </a:rPr>
              <a:t>≤ 15 min RPO (data loss tolerance)    |    45-60 min RTO (time to restore)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Bottleneck: Snowflake external table recreation (10-20 min)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12064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Failover Trigger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376672"/>
            <a:ext cx="5303520" cy="594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</a:rPr>
              <a:t>Trigger: Confirmed sustained us-east-1 outage (&gt;15 minutes)
Authority: Platform Team Lead + VP Engineering
Type: Manual (with automated detection + alerting)
Failback: Manual, after us-east-1 stable for &gt;2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Key Decisions &amp; Blockers</a:t>
            </a:r>
          </a:p>
          <a:p>
            <a:r>
              <a:rPr sz="1200">
                <a:solidFill>
                  <a:srgbClr val="94A3B8"/>
                </a:solidFill>
              </a:rPr>
              <a:t>Architecture decisions requiring approval and critical blockers to resolve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277295" y="182880"/>
            <a:ext cx="731520" cy="32004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64748B"/>
                </a:solidFill>
              </a:rPr>
              <a:t>7 /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Data Mesh Multi-Region Resiliency —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Pending Decisions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115568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286000"/>
                <a:gridCol w="301752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Decision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Recommendation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Failover strategy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Active-Passive (Warm Standby)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Producer multi-region mandate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Tiered: Tier 1 mandatory, Tier 2 recommended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D3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Snowflake edition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Business Critical (failover groups + Client Redirect)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D4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Glue Catalog sync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Dual-write from Notification API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D5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SNS notification DR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Dual-publish (zero consumer action on flip)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D6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Kafka connectivity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Provision DX from west2 (4-8 week lead)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D7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Failover trigger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Manual with automated alerting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D8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Consumer connections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CNAME for SB/DBX; Client Redirect for SF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D9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SF Private Listing + Iceberg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Validate with SF support (see B2)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D10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Immuta on PL shared tables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Validate governance (see B4)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D11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DR drill cadence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Mandatory quarterly for Tier 1 + platform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72200" y="86868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97066"/>
                </a:solidFill>
              </a:rPr>
              <a:t>Critical Blockers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115568"/>
          <a:ext cx="56692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3931920"/>
                <a:gridCol w="141732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#</a:t>
                      </a:r>
                    </a:p>
                  </a:txBody>
                  <a:tcPr marL="50800" marR="50800" marT="25400" marB="25400">
                    <a:solidFill>
                      <a:srgbClr val="5C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Blocker</a:t>
                      </a:r>
                    </a:p>
                  </a:txBody>
                  <a:tcPr marL="50800" marR="50800" marT="25400" marB="25400">
                    <a:solidFill>
                      <a:srgbClr val="5C18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Owner</a:t>
                      </a:r>
                    </a:p>
                  </a:txBody>
                  <a:tcPr marL="50800" marR="50800" marT="25400" marB="25400">
                    <a:solidFill>
                      <a:srgbClr val="5C181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B1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Direct Connect from west2 to on-prem — 4-8 week lead. Must start immediately.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Platform + Network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B2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Snowflake PL + Unmanaged Iceberg — BCR-1528 silently skips. Must validate with SF support.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Platform + Snowflake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B3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Snowflake Business Critical edition — may require contract upgrade.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Platform + Procurement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B4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Immuta on PL shared tables — untested. Must validate governance coverage.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Governance Team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B5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Iceberg metadata absolute paths — need register_table + path substitution automation.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Platform Team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72200" y="2670048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Estimated Warm Standby Cost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172200" y="292608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</a:tblGrid>
              <a:tr h="2286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Component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94A3B8"/>
                          </a:solidFill>
                        </a:rPr>
                        <a:t>Monthly Cost</a:t>
                      </a:r>
                    </a:p>
                  </a:txBody>
                  <a:tcPr marL="50800" marR="50800" marT="25400" marB="25400">
                    <a:solidFill>
                      <a:srgbClr val="151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S3 CRR Storage + Transfer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$0.02/GB transfer + storage duplication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DynamoDB Global Tables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~2x write costs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ECS Warm Standby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~20% of primary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Starburst Warm Standby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~15-20% of primary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Snowflake / Databricks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Minimal (warehouses suspended)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Immuta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TBD with vendor (may need add'l license)</a:t>
                      </a:r>
                    </a:p>
                  </a:txBody>
                  <a:tcPr marL="50800" marR="50800" marT="25400" marB="25400">
                    <a:solidFill>
                      <a:srgbClr val="0F142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Estimated Total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E2E8F0"/>
                          </a:solidFill>
                        </a:rPr>
                        <a:t>~25-35% of primary region cost</a:t>
                      </a:r>
                    </a:p>
                  </a:txBody>
                  <a:tcPr marL="50800" marR="50800" marT="25400" marB="25400">
                    <a:solidFill>
                      <a:srgbClr val="12172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74320" y="5074920"/>
            <a:ext cx="457200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349240"/>
            <a:ext cx="2240280" cy="1005840"/>
          </a:xfrm>
          <a:prstGeom prst="roundRect">
            <a:avLst/>
          </a:prstGeom>
          <a:solidFill>
            <a:srgbClr val="1A2138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64748B"/>
                </a:solidFill>
              </a:rPr>
              <a:t>PHASE 1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Foundation</a:t>
            </a:r>
          </a:p>
          <a:p>
            <a:pPr algn="ctr"/>
            <a:r>
              <a:rPr sz="800">
                <a:solidFill>
                  <a:srgbClr val="94A3B8"/>
                </a:solidFill>
              </a:rPr>
              <a:t>Weeks 1-4</a:t>
            </a:r>
          </a:p>
          <a:p>
            <a:pPr algn="ctr"/>
            <a:r>
              <a:rPr sz="700">
                <a:solidFill>
                  <a:srgbClr val="64748B"/>
                </a:solidFill>
              </a:rPr>
              <a:t>VPC, DDB, DX order,
SF/SB/DBX provision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24328" y="5349240"/>
            <a:ext cx="2240280" cy="100584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64748B"/>
                </a:solidFill>
              </a:rPr>
              <a:t>PHASE 2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Platform Deploy</a:t>
            </a:r>
          </a:p>
          <a:p>
            <a:pPr algn="ctr"/>
            <a:r>
              <a:rPr sz="800">
                <a:solidFill>
                  <a:srgbClr val="94A3B8"/>
                </a:solidFill>
              </a:rPr>
              <a:t>Weeks 5-8</a:t>
            </a:r>
          </a:p>
          <a:p>
            <a:pPr algn="ctr"/>
            <a:r>
              <a:rPr sz="700">
                <a:solidFill>
                  <a:srgbClr val="64748B"/>
                </a:solidFill>
              </a:rPr>
              <a:t>APIs, SNS, Glue,
dual-write, dual-pub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4336" y="5349240"/>
            <a:ext cx="2240280" cy="1005840"/>
          </a:xfrm>
          <a:prstGeom prst="roundRect">
            <a:avLst/>
          </a:prstGeom>
          <a:solidFill>
            <a:srgbClr val="3B2D6B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64748B"/>
                </a:solidFill>
              </a:rPr>
              <a:t>PHASE 3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Producer Onboard</a:t>
            </a:r>
          </a:p>
          <a:p>
            <a:pPr algn="ctr"/>
            <a:r>
              <a:rPr sz="800">
                <a:solidFill>
                  <a:srgbClr val="94A3B8"/>
                </a:solidFill>
              </a:rPr>
              <a:t>Weeks 9-16</a:t>
            </a:r>
          </a:p>
          <a:p>
            <a:pPr algn="ctr"/>
            <a:r>
              <a:rPr sz="700">
                <a:solidFill>
                  <a:srgbClr val="64748B"/>
                </a:solidFill>
              </a:rPr>
              <a:t>Tier 1 first, CRR,
IAM, Access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4" y="5349240"/>
            <a:ext cx="2240280" cy="1005840"/>
          </a:xfrm>
          <a:prstGeom prst="roundRect">
            <a:avLst/>
          </a:prstGeom>
          <a:solidFill>
            <a:srgbClr val="5C2244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64748B"/>
                </a:solidFill>
              </a:rPr>
              <a:t>PHASE 4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Consumer Ready</a:t>
            </a:r>
          </a:p>
          <a:p>
            <a:pPr algn="ctr"/>
            <a:r>
              <a:rPr sz="800">
                <a:solidFill>
                  <a:srgbClr val="94A3B8"/>
                </a:solidFill>
              </a:rPr>
              <a:t>Weeks 13-18</a:t>
            </a:r>
          </a:p>
          <a:p>
            <a:pPr algn="ctr"/>
            <a:r>
              <a:rPr sz="700">
                <a:solidFill>
                  <a:srgbClr val="64748B"/>
                </a:solidFill>
              </a:rPr>
              <a:t>SQS, CNAME, test
end-to-end in west2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74352" y="5349240"/>
            <a:ext cx="2240280" cy="1005840"/>
          </a:xfrm>
          <a:prstGeom prst="roundRect">
            <a:avLst/>
          </a:prstGeom>
          <a:solidFill>
            <a:srgbClr val="5C4A14"/>
          </a:solidFill>
          <a:ln w="12700">
            <a:solidFill>
              <a:srgbClr val="2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800">
                <a:solidFill>
                  <a:srgbClr val="64748B"/>
                </a:solidFill>
              </a:rPr>
              <a:t>PHASE 5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DR Drills</a:t>
            </a:r>
          </a:p>
          <a:p>
            <a:pPr algn="ctr"/>
            <a:r>
              <a:rPr sz="800">
                <a:solidFill>
                  <a:srgbClr val="94A3B8"/>
                </a:solidFill>
              </a:rPr>
              <a:t>Weeks 17-20</a:t>
            </a:r>
          </a:p>
          <a:p>
            <a:pPr algn="ctr"/>
            <a:r>
              <a:rPr sz="700">
                <a:solidFill>
                  <a:srgbClr val="64748B"/>
                </a:solidFill>
              </a:rPr>
              <a:t>Runbook test, DR drill,
validation,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